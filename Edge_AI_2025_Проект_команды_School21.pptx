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73" r:id="rId3"/>
    <p:sldId id="275" r:id="rId4"/>
    <p:sldId id="256" r:id="rId5"/>
    <p:sldId id="257" r:id="rId6"/>
    <p:sldId id="258" r:id="rId7"/>
    <p:sldId id="259" r:id="rId8"/>
    <p:sldId id="261" r:id="rId9"/>
    <p:sldId id="269" r:id="rId10"/>
    <p:sldId id="262" r:id="rId11"/>
    <p:sldId id="263" r:id="rId12"/>
    <p:sldId id="270" r:id="rId13"/>
    <p:sldId id="264" r:id="rId14"/>
    <p:sldId id="265" r:id="rId15"/>
    <p:sldId id="266" r:id="rId16"/>
    <p:sldId id="272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34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8EF5C-A310-646F-ACBE-14A86A14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B0C9A-2496-AD06-C2BF-AC0057167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B9404-A5DB-7AA6-D72B-68DB6DD48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10DC1-79C5-FF33-BB8E-A5197FB50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96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B4C3-D06D-A532-7B4F-1D086A61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970FA-C9CA-2187-86DA-225FCBBFE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8CB92-59BC-76F3-6856-156878014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84320-65EC-54AD-96F8-D09739549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2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80CB-9AE6-D8DE-3247-6821205DB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AC800-7925-A866-FC4C-F01CBDD37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B205B-0C9E-400A-CFF5-69C4BC752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8FA47-4D41-BA4C-0B03-3420F7023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58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mp image">
            <a:extLst>
              <a:ext uri="{FF2B5EF4-FFF2-40B4-BE49-F238E27FC236}">
                <a16:creationId xmlns:a16="http://schemas.microsoft.com/office/drawing/2014/main" id="{DE22FC1F-D86B-7929-78C2-A5B6A59DC3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302" y="4519749"/>
            <a:ext cx="1108698" cy="62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8BB6BA-95C9-AB01-2490-834F0C1917E4}"/>
              </a:ext>
            </a:extLst>
          </p:cNvPr>
          <p:cNvSpPr txBox="1"/>
          <p:nvPr/>
        </p:nvSpPr>
        <p:spPr>
          <a:xfrm>
            <a:off x="463826" y="646916"/>
            <a:ext cx="8110330" cy="1611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E45649"/>
                </a:solidFill>
                <a:effectLst/>
              </a:rPr>
              <a:t>Рекомендации по презентации</a:t>
            </a:r>
            <a:endParaRPr lang="ru-RU" b="0" dirty="0">
              <a:solidFill>
                <a:srgbClr val="0F1115"/>
              </a:solidFill>
              <a:effectLst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b="0" dirty="0">
              <a:solidFill>
                <a:srgbClr val="0F1115"/>
              </a:solidFill>
              <a:effectLst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1. Тайминг: </a:t>
            </a:r>
            <a:r>
              <a:rPr lang="ru-RU" sz="1400" dirty="0">
                <a:solidFill>
                  <a:srgbClr val="000000"/>
                </a:solidFill>
              </a:rPr>
              <a:t>15 минут + 5 минут вопросы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2. Визуализация: </a:t>
            </a:r>
            <a:r>
              <a:rPr lang="ru-RU" sz="1400" dirty="0">
                <a:solidFill>
                  <a:srgbClr val="000000"/>
                </a:solidFill>
              </a:rPr>
              <a:t>Используйте схемы, диаграммы, скриншоты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3. Акценты: </a:t>
            </a:r>
            <a:r>
              <a:rPr lang="ru-RU" sz="1400" dirty="0">
                <a:solidFill>
                  <a:srgbClr val="000000"/>
                </a:solidFill>
              </a:rPr>
              <a:t>Делайте упор на инновационность и использование обязательного стека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4. Практичность: </a:t>
            </a:r>
            <a:r>
              <a:rPr lang="ru-RU" sz="1400" dirty="0">
                <a:solidFill>
                  <a:srgbClr val="000000"/>
                </a:solidFill>
              </a:rPr>
              <a:t>Покажите, как решение работает в реальных условиях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5. Честность: </a:t>
            </a:r>
            <a:r>
              <a:rPr lang="ru-RU" sz="1400" dirty="0">
                <a:solidFill>
                  <a:srgbClr val="000000"/>
                </a:solidFill>
              </a:rPr>
              <a:t>Обозначьте риски и пути их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84193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98D266-6EA6-17A2-CA93-1F4B52BEC856}"/>
              </a:ext>
            </a:extLst>
          </p:cNvPr>
          <p:cNvSpPr txBox="1"/>
          <p:nvPr/>
        </p:nvSpPr>
        <p:spPr>
          <a:xfrm>
            <a:off x="529401" y="739792"/>
            <a:ext cx="7508041" cy="226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ru-RU" dirty="0">
                <a:solidFill>
                  <a:srgbClr val="E45649"/>
                </a:solidFill>
              </a:rPr>
              <a:t>Важное примечание</a:t>
            </a:r>
          </a:p>
          <a:p>
            <a:pPr latinLnBrk="1">
              <a:lnSpc>
                <a:spcPts val="1650"/>
              </a:lnSpc>
            </a:pPr>
            <a:endParaRPr lang="ru-RU" sz="1400" dirty="0">
              <a:solidFill>
                <a:srgbClr val="000000"/>
              </a:solidFill>
            </a:endParaRPr>
          </a:p>
          <a:p>
            <a:pPr latinLnBrk="1">
              <a:lnSpc>
                <a:spcPts val="1650"/>
              </a:lnSpc>
            </a:pPr>
            <a:r>
              <a:rPr lang="ru-RU" sz="1400" b="1" dirty="0">
                <a:solidFill>
                  <a:srgbClr val="000000"/>
                </a:solidFill>
              </a:rPr>
              <a:t>Команды могут использовать:</a:t>
            </a:r>
          </a:p>
          <a:p>
            <a:pPr latinLnBrk="1">
              <a:lnSpc>
                <a:spcPts val="1650"/>
              </a:lnSpc>
            </a:pPr>
            <a:r>
              <a:rPr lang="ru-RU" sz="1400" dirty="0">
                <a:solidFill>
                  <a:srgbClr val="000000"/>
                </a:solidFill>
              </a:rPr>
              <a:t>- Любые другие шаблоны презентаций</a:t>
            </a:r>
          </a:p>
          <a:p>
            <a:pPr latinLnBrk="1">
              <a:lnSpc>
                <a:spcPts val="1650"/>
              </a:lnSpc>
            </a:pPr>
            <a:r>
              <a:rPr lang="ru-RU" sz="1400" dirty="0">
                <a:solidFill>
                  <a:srgbClr val="000000"/>
                </a:solidFill>
              </a:rPr>
              <a:t>- Стандартные шаблоны вашего ВУЗа (это даже приветствуется!)</a:t>
            </a:r>
          </a:p>
          <a:p>
            <a:pPr latinLnBrk="1">
              <a:lnSpc>
                <a:spcPts val="1650"/>
              </a:lnSpc>
            </a:pPr>
            <a:endParaRPr lang="ru-RU" sz="1400" dirty="0">
              <a:solidFill>
                <a:srgbClr val="000000"/>
              </a:solidFill>
            </a:endParaRPr>
          </a:p>
          <a:p>
            <a:pPr latinLnBrk="1">
              <a:lnSpc>
                <a:spcPts val="1650"/>
              </a:lnSpc>
            </a:pPr>
            <a:r>
              <a:rPr lang="ru-RU" sz="1400" dirty="0">
                <a:solidFill>
                  <a:srgbClr val="000000"/>
                </a:solidFill>
              </a:rPr>
              <a:t>Однако мы настойчиво рекомендуем придерживаться предложенного состава слайдов!</a:t>
            </a:r>
            <a:endParaRPr lang="en-US" sz="1400" dirty="0">
              <a:solidFill>
                <a:srgbClr val="000000"/>
              </a:solidFill>
            </a:endParaRPr>
          </a:p>
          <a:p>
            <a:pPr latinLnBrk="1">
              <a:lnSpc>
                <a:spcPts val="1650"/>
              </a:lnSpc>
            </a:pPr>
            <a:endParaRPr lang="en-US" sz="1400" b="1" dirty="0">
              <a:solidFill>
                <a:srgbClr val="000000"/>
              </a:solidFill>
            </a:endParaRPr>
          </a:p>
          <a:p>
            <a:pPr latinLnBrk="1">
              <a:lnSpc>
                <a:spcPts val="1650"/>
              </a:lnSpc>
            </a:pPr>
            <a:r>
              <a:rPr lang="ru-RU" sz="1400" b="1" dirty="0">
                <a:solidFill>
                  <a:srgbClr val="000000"/>
                </a:solidFill>
              </a:rPr>
              <a:t>Главное — чтобы презентация раскрывала все ключевые аспекты проекта и соответствовала критериям оценки.</a:t>
            </a:r>
          </a:p>
        </p:txBody>
      </p:sp>
    </p:spTree>
    <p:extLst>
      <p:ext uri="{BB962C8B-B14F-4D97-AF65-F5344CB8AC3E}">
        <p14:creationId xmlns:p14="http://schemas.microsoft.com/office/powerpoint/2010/main" val="1118239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E7FC2-7E57-C65F-848A-4900A7E10BEF}"/>
              </a:ext>
            </a:extLst>
          </p:cNvPr>
          <p:cNvSpPr txBox="1"/>
          <p:nvPr/>
        </p:nvSpPr>
        <p:spPr>
          <a:xfrm>
            <a:off x="529401" y="739792"/>
            <a:ext cx="6449467" cy="73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ru-RU" dirty="0">
                <a:solidFill>
                  <a:srgbClr val="E45649"/>
                </a:solidFill>
              </a:rPr>
              <a:t>Важное примечание</a:t>
            </a:r>
          </a:p>
          <a:p>
            <a:pPr latinLnBrk="1">
              <a:lnSpc>
                <a:spcPts val="1650"/>
              </a:lnSpc>
            </a:pPr>
            <a:endParaRPr lang="ru-RU" sz="1400" dirty="0">
              <a:solidFill>
                <a:srgbClr val="000000"/>
              </a:solidFill>
            </a:endParaRPr>
          </a:p>
          <a:p>
            <a:pPr latinLnBrk="1">
              <a:lnSpc>
                <a:spcPts val="1650"/>
              </a:lnSpc>
            </a:pPr>
            <a:r>
              <a:rPr lang="ru-RU" sz="1400" b="1" dirty="0">
                <a:solidFill>
                  <a:srgbClr val="000000"/>
                </a:solidFill>
              </a:rPr>
              <a:t>Обязательно загрузите презентацию в </a:t>
            </a:r>
            <a:r>
              <a:rPr lang="en-US" sz="1400" b="1" dirty="0" err="1">
                <a:solidFill>
                  <a:srgbClr val="000000"/>
                </a:solidFill>
              </a:rPr>
              <a:t>GitVerse</a:t>
            </a:r>
            <a:r>
              <a:rPr lang="en-US" sz="1400" b="1" dirty="0">
                <a:solidFill>
                  <a:srgbClr val="000000"/>
                </a:solidFill>
              </a:rPr>
              <a:t> </a:t>
            </a:r>
            <a:r>
              <a:rPr lang="ru-RU" sz="1400" b="1" dirty="0">
                <a:solidFill>
                  <a:srgbClr val="000000"/>
                </a:solidFill>
              </a:rPr>
              <a:t>репозиторий вашей команды!</a:t>
            </a:r>
          </a:p>
        </p:txBody>
      </p:sp>
    </p:spTree>
    <p:extLst>
      <p:ext uri="{BB962C8B-B14F-4D97-AF65-F5344CB8AC3E}">
        <p14:creationId xmlns:p14="http://schemas.microsoft.com/office/powerpoint/2010/main" val="321909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2-fc09-7fe1-af89-b2547189ec27.jpg"/>
          <p:cNvPicPr>
            <a:picLocks noChangeAspect="1"/>
          </p:cNvPicPr>
          <p:nvPr/>
        </p:nvPicPr>
        <p:blipFill>
          <a:blip r:embed="rId3"/>
          <a:srcRect t="19079" b="19079"/>
          <a:stretch/>
        </p:blipFill>
        <p:spPr>
          <a:xfrm>
            <a:off x="4572000" y="257175"/>
            <a:ext cx="4269921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524539"/>
            <a:ext cx="3931920" cy="18474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000000"/>
                </a:solidFill>
              </a:rPr>
              <a:t>Edge AI 2025</a:t>
            </a:r>
            <a:r>
              <a:rPr lang="ru-RU" sz="3000" b="1" dirty="0">
                <a:solidFill>
                  <a:srgbClr val="000000"/>
                </a:solidFill>
              </a:rPr>
              <a:t> (Отбор)</a:t>
            </a: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b="1" i="1" dirty="0">
                <a:solidFill>
                  <a:srgbClr val="000000"/>
                </a:solidFill>
              </a:rPr>
              <a:t>Спикер: </a:t>
            </a:r>
            <a:r>
              <a:rPr lang="en-US" sz="1600" i="1" dirty="0">
                <a:solidFill>
                  <a:srgbClr val="000000"/>
                </a:solidFill>
              </a:rPr>
              <a:t>[</a:t>
            </a:r>
            <a:r>
              <a:rPr lang="ru-RU" sz="1600" i="1" dirty="0">
                <a:solidFill>
                  <a:srgbClr val="000000"/>
                </a:solidFill>
              </a:rPr>
              <a:t>имя фамилия</a:t>
            </a:r>
            <a:r>
              <a:rPr lang="en-US" sz="1600" i="1" dirty="0">
                <a:solidFill>
                  <a:srgbClr val="000000"/>
                </a:solidFill>
              </a:rPr>
              <a:t>]</a:t>
            </a:r>
            <a:endParaRPr lang="ru-RU" sz="1600" b="1" i="1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b="1" i="1" dirty="0">
                <a:solidFill>
                  <a:srgbClr val="000000"/>
                </a:solidFill>
              </a:rPr>
              <a:t>Название проекта:</a:t>
            </a:r>
            <a:r>
              <a:rPr lang="ru-RU" sz="1600" i="1" dirty="0">
                <a:solidFill>
                  <a:srgbClr val="000000"/>
                </a:solidFill>
              </a:rPr>
              <a:t> [Ваше название]</a:t>
            </a: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b="1" i="1" dirty="0">
                <a:solidFill>
                  <a:srgbClr val="000000"/>
                </a:solidFill>
              </a:rPr>
              <a:t>Команда:</a:t>
            </a:r>
            <a:r>
              <a:rPr lang="ru-RU" sz="1600" i="1" dirty="0">
                <a:solidFill>
                  <a:srgbClr val="000000"/>
                </a:solidFill>
              </a:rPr>
              <a:t> [Название команды]</a:t>
            </a: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b="1" i="1" dirty="0">
                <a:solidFill>
                  <a:srgbClr val="000000"/>
                </a:solidFill>
              </a:rPr>
              <a:t>Учебное заведение:</a:t>
            </a:r>
            <a:r>
              <a:rPr lang="ru-RU" sz="1600" i="1" dirty="0">
                <a:solidFill>
                  <a:srgbClr val="000000"/>
                </a:solidFill>
              </a:rPr>
              <a:t> [Название вуза]</a:t>
            </a:r>
            <a:endParaRPr lang="en-US" sz="1600" i="1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endParaRPr lang="ru-RU" sz="1600" i="1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600" i="1" dirty="0">
                <a:solidFill>
                  <a:srgbClr val="000000"/>
                </a:solidFill>
              </a:rPr>
              <a:t>[Дата защиты]</a:t>
            </a:r>
            <a:endParaRPr lang="ru-RU" sz="3000" b="1" i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3-4e76-7d92-a564-8680dca7f5ad.jpg"/>
          <p:cNvPicPr>
            <a:picLocks noChangeAspect="1"/>
          </p:cNvPicPr>
          <p:nvPr/>
        </p:nvPicPr>
        <p:blipFill>
          <a:blip r:embed="rId3"/>
          <a:srcRect t="19079" b="19079"/>
          <a:stretch/>
        </p:blipFill>
        <p:spPr>
          <a:xfrm>
            <a:off x="4572000" y="257175"/>
            <a:ext cx="4269921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200" b="1" dirty="0">
                <a:solidFill>
                  <a:srgbClr val="000000"/>
                </a:solidFill>
              </a:rPr>
              <a:t>Команда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2213113"/>
            <a:ext cx="3931920" cy="27246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400" b="1" i="1" dirty="0">
                <a:solidFill>
                  <a:srgbClr val="000000"/>
                </a:solidFill>
              </a:rPr>
              <a:t>Состав команды: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400" b="1" i="1" dirty="0">
                <a:solidFill>
                  <a:srgbClr val="000000"/>
                </a:solidFill>
              </a:rPr>
              <a:t>[ФИО] - </a:t>
            </a:r>
            <a:r>
              <a:rPr lang="ru-RU" sz="1400" i="1" dirty="0">
                <a:solidFill>
                  <a:srgbClr val="000000"/>
                </a:solidFill>
              </a:rPr>
              <a:t>Роль (например: </a:t>
            </a:r>
            <a:r>
              <a:rPr lang="it-IT" sz="1400" i="1" dirty="0">
                <a:solidFill>
                  <a:srgbClr val="000000"/>
                </a:solidFill>
              </a:rPr>
              <a:t>Team Lead, ML Engineer, Embedded Developer)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it-IT" sz="1400" b="1" i="1" dirty="0">
                <a:solidFill>
                  <a:srgbClr val="000000"/>
                </a:solidFill>
              </a:rPr>
              <a:t>[</a:t>
            </a:r>
            <a:r>
              <a:rPr lang="ru-RU" sz="1400" b="1" i="1" dirty="0">
                <a:solidFill>
                  <a:srgbClr val="000000"/>
                </a:solidFill>
              </a:rPr>
              <a:t>ФИО] - </a:t>
            </a:r>
            <a:r>
              <a:rPr lang="ru-RU" sz="1400" i="1" dirty="0">
                <a:solidFill>
                  <a:srgbClr val="000000"/>
                </a:solidFill>
              </a:rPr>
              <a:t>Роль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400" b="1" i="1" dirty="0">
                <a:solidFill>
                  <a:srgbClr val="000000"/>
                </a:solidFill>
              </a:rPr>
              <a:t>[ФИО] – </a:t>
            </a:r>
            <a:r>
              <a:rPr lang="ru-RU" sz="1400" i="1" dirty="0">
                <a:solidFill>
                  <a:srgbClr val="000000"/>
                </a:solidFill>
              </a:rPr>
              <a:t>Роль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ru-RU" sz="1500" i="1" dirty="0">
              <a:solidFill>
                <a:srgbClr val="000000"/>
              </a:solidFill>
            </a:endParaRPr>
          </a:p>
          <a:p>
            <a:pPr latinLnBrk="1"/>
            <a:r>
              <a:rPr lang="ru-RU" sz="1400" b="1" i="1" dirty="0"/>
              <a:t>Контактная информация:</a:t>
            </a:r>
            <a:endParaRPr lang="ru-RU" sz="1400" i="1" dirty="0"/>
          </a:p>
          <a:p>
            <a:pPr latinLnBrk="1"/>
            <a:r>
              <a:rPr lang="ru-RU" sz="1400" i="1" dirty="0"/>
              <a:t>- </a:t>
            </a:r>
            <a:r>
              <a:rPr lang="ru-RU" sz="1400" i="1" dirty="0" err="1"/>
              <a:t>Telegram</a:t>
            </a:r>
            <a:r>
              <a:rPr lang="ru-RU" sz="1400" i="1" dirty="0"/>
              <a:t>: [@username]</a:t>
            </a:r>
          </a:p>
          <a:p>
            <a:pPr latinLnBrk="1"/>
            <a:r>
              <a:rPr lang="ru-RU" sz="1400" i="1" dirty="0"/>
              <a:t>- </a:t>
            </a:r>
            <a:r>
              <a:rPr lang="ru-RU" sz="1400" i="1" dirty="0" err="1"/>
              <a:t>Email</a:t>
            </a:r>
            <a:r>
              <a:rPr lang="ru-RU" sz="1400" i="1" dirty="0"/>
              <a:t>: [email@example.com]</a:t>
            </a: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endParaRPr lang="en-US" sz="15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3-a188-7b76-af42-65ba1d777736.jpg"/>
          <p:cNvPicPr>
            <a:picLocks noChangeAspect="1"/>
          </p:cNvPicPr>
          <p:nvPr/>
        </p:nvPicPr>
        <p:blipFill>
          <a:blip r:embed="rId3"/>
          <a:srcRect t="17857" b="17857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Проблема и актуальность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37760" y="771525"/>
            <a:ext cx="3931920" cy="21088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i="1" dirty="0">
                <a:solidFill>
                  <a:srgbClr val="000000"/>
                </a:solidFill>
              </a:rPr>
              <a:t>Какую проблему мы решаем?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i="1" dirty="0">
                <a:solidFill>
                  <a:srgbClr val="000000"/>
                </a:solidFill>
              </a:rPr>
              <a:t>[Четкое описание проблемы]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i="1" dirty="0">
                <a:solidFill>
                  <a:srgbClr val="000000"/>
                </a:solidFill>
              </a:rPr>
              <a:t>[Кто сталкивается с этой проблемой?]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i="1" dirty="0">
                <a:solidFill>
                  <a:srgbClr val="000000"/>
                </a:solidFill>
              </a:rPr>
              <a:t>[Почему это важно сейчас?]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500" i="1" dirty="0">
                <a:solidFill>
                  <a:srgbClr val="000000"/>
                </a:solidFill>
              </a:rPr>
              <a:t>[</a:t>
            </a:r>
            <a:r>
              <a:rPr lang="ru-RU" sz="1500" i="1" dirty="0">
                <a:solidFill>
                  <a:srgbClr val="000000"/>
                </a:solidFill>
              </a:rPr>
              <a:t>Какие есть решения на рынке?</a:t>
            </a:r>
            <a:r>
              <a:rPr lang="en-US" sz="1500" i="1" dirty="0">
                <a:solidFill>
                  <a:srgbClr val="000000"/>
                </a:solidFill>
              </a:rPr>
              <a:t>]</a:t>
            </a:r>
            <a:endParaRPr lang="ru-RU" sz="1500" i="1" dirty="0">
              <a:solidFill>
                <a:srgbClr val="000000"/>
              </a:solidFill>
            </a:endParaRP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endParaRPr lang="ru-RU" sz="1500" i="1" dirty="0">
              <a:solidFill>
                <a:srgbClr val="000000"/>
              </a:solidFill>
            </a:endParaRP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Tx/>
              <a:buChar char="-"/>
            </a:pPr>
            <a:endParaRPr lang="ru-RU" sz="1500" i="1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r>
              <a:rPr lang="ru-RU" sz="1500" b="1" i="1" dirty="0"/>
              <a:t>Актуальность для Edge AI: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i="1" dirty="0"/>
              <a:t>[Почему решение должно работать на </a:t>
            </a:r>
            <a:r>
              <a:rPr lang="ru-RU" sz="1500" i="1" dirty="0" err="1"/>
              <a:t>edge</a:t>
            </a:r>
            <a:r>
              <a:rPr lang="ru-RU" sz="1500" i="1" dirty="0"/>
              <a:t>-устройстве?]</a:t>
            </a:r>
          </a:p>
          <a:p>
            <a:pPr marL="285750" indent="-28575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ru-RU" sz="1500" i="1" dirty="0"/>
              <a:t>[Какие преимущества дает периферийная обработка?]</a:t>
            </a: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endParaRPr lang="en-US" sz="15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3-e589-7ead-b674-9f18e67fec3f.jpg"/>
          <p:cNvPicPr>
            <a:picLocks noChangeAspect="1"/>
          </p:cNvPicPr>
          <p:nvPr/>
        </p:nvPicPr>
        <p:blipFill>
          <a:blip r:embed="rId3"/>
          <a:srcRect l="9496" r="9496"/>
          <a:stretch/>
        </p:blipFill>
        <p:spPr>
          <a:xfrm>
            <a:off x="6766560" y="257175"/>
            <a:ext cx="21390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59" y="771524"/>
            <a:ext cx="5186901" cy="24421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i="1" dirty="0">
                <a:solidFill>
                  <a:srgbClr val="000000"/>
                </a:solidFill>
              </a:rPr>
              <a:t>Ключевая идея: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[Краткое описание решения]</a:t>
            </a:r>
          </a:p>
          <a:p>
            <a:pPr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500" i="1" dirty="0">
                <a:solidFill>
                  <a:srgbClr val="000000"/>
                </a:solidFill>
              </a:rPr>
              <a:t>- [</a:t>
            </a:r>
            <a:r>
              <a:rPr lang="ru-RU" sz="1500" i="1" dirty="0">
                <a:solidFill>
                  <a:srgbClr val="000000"/>
                </a:solidFill>
              </a:rPr>
              <a:t>Функционально – технические преимущества решения</a:t>
            </a:r>
            <a:r>
              <a:rPr lang="en-US" sz="1500" i="1" dirty="0">
                <a:solidFill>
                  <a:srgbClr val="000000"/>
                </a:solidFill>
              </a:rPr>
              <a:t>]</a:t>
            </a:r>
            <a:endParaRPr lang="ru-RU" sz="1500" i="1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[Основная ценность для пользователей]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i="1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i="1" dirty="0">
                <a:solidFill>
                  <a:srgbClr val="000000"/>
                </a:solidFill>
              </a:rPr>
              <a:t>Инновационность: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[Что делает наше решение уникальным?]</a:t>
            </a:r>
            <a:endParaRPr lang="en-US" sz="1500" i="1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[Чем оно отличается от существующих аналогов?]</a:t>
            </a:r>
            <a:endParaRPr lang="en-US" sz="15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4-2146-7a04-90c1-2d427a040260.jpg"/>
          <p:cNvPicPr>
            <a:picLocks noChangeAspect="1"/>
          </p:cNvPicPr>
          <p:nvPr/>
        </p:nvPicPr>
        <p:blipFill>
          <a:blip r:embed="rId3"/>
          <a:srcRect t="276" b="276"/>
          <a:stretch/>
        </p:blipFill>
        <p:spPr>
          <a:xfrm>
            <a:off x="6217920" y="0"/>
            <a:ext cx="295547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Технологический стек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59" y="771525"/>
            <a:ext cx="5498327" cy="2190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500" b="1" dirty="0">
                <a:solidFill>
                  <a:srgbClr val="000000"/>
                </a:solidFill>
              </a:rPr>
              <a:t>Обязательные технологии:</a:t>
            </a: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✅ </a:t>
            </a:r>
            <a:r>
              <a:rPr lang="en-US" sz="1500" dirty="0" err="1">
                <a:solidFill>
                  <a:srgbClr val="000000"/>
                </a:solidFill>
              </a:rPr>
              <a:t>OrangePI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AIpro</a:t>
            </a:r>
            <a:r>
              <a:rPr lang="en-US" sz="1500" dirty="0">
                <a:solidFill>
                  <a:srgbClr val="000000"/>
                </a:solidFill>
              </a:rPr>
              <a:t> 20T</a:t>
            </a: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✅ </a:t>
            </a:r>
            <a:r>
              <a:rPr lang="en-US" sz="1500" dirty="0" err="1">
                <a:solidFill>
                  <a:srgbClr val="000000"/>
                </a:solidFill>
              </a:rPr>
              <a:t>OpenScaler</a:t>
            </a:r>
            <a:r>
              <a:rPr lang="en-US" sz="1500" dirty="0">
                <a:solidFill>
                  <a:srgbClr val="000000"/>
                </a:solidFill>
              </a:rPr>
              <a:t>/</a:t>
            </a:r>
            <a:r>
              <a:rPr lang="en-US" sz="1500" dirty="0" err="1">
                <a:solidFill>
                  <a:srgbClr val="000000"/>
                </a:solidFill>
              </a:rPr>
              <a:t>openEuler</a:t>
            </a:r>
            <a:endParaRPr lang="en-US" sz="1500" dirty="0">
              <a:solidFill>
                <a:srgbClr val="000000"/>
              </a:solidFill>
            </a:endParaRP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✅ </a:t>
            </a:r>
            <a:r>
              <a:rPr lang="ru-RU" sz="1500" dirty="0">
                <a:solidFill>
                  <a:srgbClr val="000000"/>
                </a:solidFill>
              </a:rPr>
              <a:t>Экосистема </a:t>
            </a:r>
            <a:r>
              <a:rPr lang="en-US" sz="1500" dirty="0">
                <a:solidFill>
                  <a:srgbClr val="000000"/>
                </a:solidFill>
              </a:rPr>
              <a:t>Ascend</a:t>
            </a: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✅ </a:t>
            </a:r>
            <a:r>
              <a:rPr lang="en-US" sz="1500" dirty="0" err="1">
                <a:solidFill>
                  <a:srgbClr val="000000"/>
                </a:solidFill>
              </a:rPr>
              <a:t>GitVerse</a:t>
            </a:r>
            <a:endParaRPr lang="en-US" sz="1500" dirty="0">
              <a:solidFill>
                <a:srgbClr val="000000"/>
              </a:solidFill>
            </a:endParaRP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endParaRPr lang="en-US" sz="1500" b="1" dirty="0">
              <a:solidFill>
                <a:srgbClr val="000000"/>
              </a:solidFill>
            </a:endParaRPr>
          </a:p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500" b="1" i="1" dirty="0">
                <a:solidFill>
                  <a:srgbClr val="000000"/>
                </a:solidFill>
              </a:rPr>
              <a:t>Дополнительные технологии:</a:t>
            </a:r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ru-RU" sz="1500" i="1" dirty="0">
                <a:solidFill>
                  <a:srgbClr val="000000"/>
                </a:solidFill>
              </a:rPr>
              <a:t>[Фреймворки, библиотеки, инструменты]</a:t>
            </a:r>
            <a:endParaRPr lang="en-US" sz="15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4650F-9697-6A9C-6452-F36B5BE4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5BB61E6-1489-B0D4-48F4-CA4F20921023}"/>
              </a:ext>
            </a:extLst>
          </p:cNvPr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200" b="1" dirty="0">
                <a:solidFill>
                  <a:srgbClr val="000000"/>
                </a:solidFill>
              </a:rPr>
              <a:t>Архитектура решения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3BB493C-D90F-4B06-9935-4141C31610DE}"/>
              </a:ext>
            </a:extLst>
          </p:cNvPr>
          <p:cNvSpPr/>
          <p:nvPr/>
        </p:nvSpPr>
        <p:spPr>
          <a:xfrm>
            <a:off x="5076908" y="1197252"/>
            <a:ext cx="3931920" cy="12858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500" b="1" dirty="0">
                <a:solidFill>
                  <a:srgbClr val="000000"/>
                </a:solidFill>
              </a:rPr>
              <a:t>Ключевые компоненты:</a:t>
            </a:r>
          </a:p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500" i="1" dirty="0">
                <a:solidFill>
                  <a:srgbClr val="000000"/>
                </a:solidFill>
              </a:rPr>
              <a:t>- [Компонент 1] - назначение</a:t>
            </a:r>
          </a:p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500" i="1" dirty="0">
                <a:solidFill>
                  <a:srgbClr val="000000"/>
                </a:solidFill>
              </a:rPr>
              <a:t>- [Компонент 2] - назначение</a:t>
            </a:r>
          </a:p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500" i="1" dirty="0">
                <a:solidFill>
                  <a:srgbClr val="000000"/>
                </a:solidFill>
              </a:rPr>
              <a:t>- [Компонент 3] - назначение</a:t>
            </a:r>
            <a:endParaRPr lang="en-US" sz="15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E0368-EA08-F12D-B405-2676308A220E}"/>
              </a:ext>
            </a:extLst>
          </p:cNvPr>
          <p:cNvSpPr txBox="1"/>
          <p:nvPr/>
        </p:nvSpPr>
        <p:spPr>
          <a:xfrm>
            <a:off x="539363" y="1914608"/>
            <a:ext cx="2961861" cy="8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800" b="1" dirty="0">
                <a:solidFill>
                  <a:srgbClr val="000000"/>
                </a:solidFill>
              </a:rPr>
              <a:t>Блок-схема системы:</a:t>
            </a:r>
          </a:p>
          <a:p>
            <a:pPr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sz="1800" i="1" dirty="0">
                <a:solidFill>
                  <a:srgbClr val="000000"/>
                </a:solidFill>
              </a:rPr>
              <a:t>[Место для диаграммы архитектуры]</a:t>
            </a:r>
          </a:p>
        </p:txBody>
      </p:sp>
    </p:spTree>
    <p:extLst>
      <p:ext uri="{BB962C8B-B14F-4D97-AF65-F5344CB8AC3E}">
        <p14:creationId xmlns:p14="http://schemas.microsoft.com/office/powerpoint/2010/main" val="1486493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4908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Использование Ascend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4908" y="771525"/>
            <a:ext cx="3931920" cy="3873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План работы с </a:t>
            </a:r>
            <a:r>
              <a:rPr lang="ru-RU" sz="1500" b="1" dirty="0" err="1">
                <a:solidFill>
                  <a:srgbClr val="000000"/>
                </a:solidFill>
              </a:rPr>
              <a:t>Ascend</a:t>
            </a:r>
            <a:r>
              <a:rPr lang="ru-RU" sz="1500" b="1" dirty="0">
                <a:solidFill>
                  <a:srgbClr val="000000"/>
                </a:solidFill>
              </a:rPr>
              <a:t>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[Какие модели ИИ будем использовать?]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[Как задействуем NPU для ускорения?]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[Какие библиотеки </a:t>
            </a:r>
            <a:r>
              <a:rPr lang="ru-RU" sz="1500" i="1" dirty="0" err="1">
                <a:solidFill>
                  <a:srgbClr val="000000"/>
                </a:solidFill>
              </a:rPr>
              <a:t>Ascend</a:t>
            </a:r>
            <a:r>
              <a:rPr lang="ru-RU" sz="1500" i="1" dirty="0">
                <a:solidFill>
                  <a:srgbClr val="000000"/>
                </a:solidFill>
              </a:rPr>
              <a:t> применим?]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Ожидаемые преимущества: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[Производительность]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[Энергоэффективность]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/>
              <a:t>…</a:t>
            </a:r>
            <a:endParaRPr lang="en-US" sz="1500" i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F5FAB10-1AD5-4EEC-8546-4CF20694E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924" y="771525"/>
            <a:ext cx="3507229" cy="351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52623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Работа с OpenScaler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252623" y="771525"/>
            <a:ext cx="4964264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Интеграция с </a:t>
            </a:r>
            <a:r>
              <a:rPr lang="ru-RU" sz="1500" b="1" dirty="0" err="1">
                <a:solidFill>
                  <a:srgbClr val="000000"/>
                </a:solidFill>
              </a:rPr>
              <a:t>OpenScaler</a:t>
            </a:r>
            <a:r>
              <a:rPr lang="ru-RU" sz="1500" b="1" dirty="0">
                <a:solidFill>
                  <a:srgbClr val="000000"/>
                </a:solidFill>
              </a:rPr>
              <a:t>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[Какие технологии ОС планируем использовать?]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473CF5-AA99-1245-82F1-604F9E435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75" y="2090670"/>
            <a:ext cx="3029373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667E9-CA82-4770-FCC8-B2D0177C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64A5540-9714-AD04-52E1-58947CB50A8E}"/>
              </a:ext>
            </a:extLst>
          </p:cNvPr>
          <p:cNvSpPr/>
          <p:nvPr/>
        </p:nvSpPr>
        <p:spPr>
          <a:xfrm>
            <a:off x="267191" y="301984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Работа с </a:t>
            </a:r>
            <a:r>
              <a:rPr lang="en-US" sz="2200" b="1" dirty="0" err="1">
                <a:solidFill>
                  <a:srgbClr val="000000"/>
                </a:solidFill>
              </a:rPr>
              <a:t>GitVerse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9228320-E7B5-A175-79C4-54A1ABE17DD3}"/>
              </a:ext>
            </a:extLst>
          </p:cNvPr>
          <p:cNvSpPr/>
          <p:nvPr/>
        </p:nvSpPr>
        <p:spPr>
          <a:xfrm>
            <a:off x="267191" y="764899"/>
            <a:ext cx="5083534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План работы с </a:t>
            </a:r>
            <a:r>
              <a:rPr lang="en-US" sz="1500" b="1" dirty="0" err="1">
                <a:solidFill>
                  <a:srgbClr val="000000"/>
                </a:solidFill>
              </a:rPr>
              <a:t>GitVerse</a:t>
            </a:r>
            <a:r>
              <a:rPr lang="ru-RU" sz="1500" b="1" dirty="0">
                <a:solidFill>
                  <a:srgbClr val="000000"/>
                </a:solidFill>
              </a:rPr>
              <a:t>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[Какие функции </a:t>
            </a:r>
            <a:r>
              <a:rPr lang="en-US" sz="1500" i="1" dirty="0" err="1">
                <a:solidFill>
                  <a:srgbClr val="000000"/>
                </a:solidFill>
              </a:rPr>
              <a:t>GitVerse</a:t>
            </a:r>
            <a:r>
              <a:rPr lang="en-US" sz="1500" i="1" dirty="0">
                <a:solidFill>
                  <a:srgbClr val="000000"/>
                </a:solidFill>
              </a:rPr>
              <a:t> </a:t>
            </a:r>
            <a:r>
              <a:rPr lang="ru-RU" sz="1500" i="1" dirty="0">
                <a:solidFill>
                  <a:srgbClr val="000000"/>
                </a:solidFill>
              </a:rPr>
              <a:t>будем использовать?]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013F09-56BC-78D0-1D74-9CA043871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661" y="2100041"/>
            <a:ext cx="3390409" cy="94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92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5-05b5-71db-8b5f-00d7782009e7.jpg"/>
          <p:cNvPicPr>
            <a:picLocks noChangeAspect="1"/>
          </p:cNvPicPr>
          <p:nvPr/>
        </p:nvPicPr>
        <p:blipFill>
          <a:blip r:embed="rId3"/>
          <a:srcRect t="19079" b="19079"/>
          <a:stretch/>
        </p:blipFill>
        <p:spPr>
          <a:xfrm>
            <a:off x="4572000" y="257175"/>
            <a:ext cx="4269921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Практическая ценность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771525"/>
            <a:ext cx="3931920" cy="4217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Целевая аудитория: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[Кто будет использовать решение?]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[Какие потребности закрываем?]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Потенциал внедрения: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[Где может использоваться решение?]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[Экономический эффект]</a:t>
            </a:r>
            <a:endParaRPr lang="en-US" sz="1500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5-5de8-7a7b-8cbb-50eb2581b146.jpg"/>
          <p:cNvPicPr>
            <a:picLocks noChangeAspect="1"/>
          </p:cNvPicPr>
          <p:nvPr/>
        </p:nvPicPr>
        <p:blipFill>
          <a:blip r:embed="rId3"/>
          <a:srcRect l="13674" r="13674"/>
          <a:stretch/>
        </p:blipFill>
        <p:spPr>
          <a:xfrm>
            <a:off x="274320" y="1543050"/>
            <a:ext cx="4245429" cy="333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План реализации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54880" y="1594485"/>
            <a:ext cx="3931920" cy="3169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Этапы разработки: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1. [Этап 1] - сроки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2. [Этап 2] - сроки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3. [Этап 3] - сроки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Критические риски: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[Основные технические вызовы]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[Пути их решения]</a:t>
            </a:r>
            <a:endParaRPr lang="en-US" sz="1500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5-adff-7cf2-83d8-c82ebb377c9e.jpg"/>
          <p:cNvPicPr>
            <a:picLocks noChangeAspect="1"/>
          </p:cNvPicPr>
          <p:nvPr/>
        </p:nvPicPr>
        <p:blipFill>
          <a:blip r:embed="rId3"/>
          <a:srcRect t="3262" b="3262"/>
          <a:stretch/>
        </p:blipFill>
        <p:spPr>
          <a:xfrm>
            <a:off x="274320" y="257175"/>
            <a:ext cx="2824843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328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Ожидаемые результаты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383279" y="771525"/>
            <a:ext cx="4899329" cy="2623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К концу конкурса: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[Функциональный прототип]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[Измеренные показатели производительности]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[Документация]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Дальнейшее развитие: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[Возможности масштабирования]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[Дополнительные функции]</a:t>
            </a:r>
            <a:endParaRPr lang="en-US" sz="1500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7B051-5B2D-1AD7-D2C3-E582DC7D2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A423024-8BAA-DD95-5100-037D54387B3B}"/>
              </a:ext>
            </a:extLst>
          </p:cNvPr>
          <p:cNvSpPr/>
          <p:nvPr/>
        </p:nvSpPr>
        <p:spPr>
          <a:xfrm>
            <a:off x="3359426" y="259742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200" b="1" dirty="0">
                <a:solidFill>
                  <a:srgbClr val="000000"/>
                </a:solidFill>
              </a:rPr>
              <a:t>Критерии оценки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0F4582F-AB5B-3AAF-5F45-E0CFEA912C64}"/>
              </a:ext>
            </a:extLst>
          </p:cNvPr>
          <p:cNvSpPr/>
          <p:nvPr/>
        </p:nvSpPr>
        <p:spPr>
          <a:xfrm>
            <a:off x="3359426" y="755457"/>
            <a:ext cx="5638799" cy="3992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Наш проект соответствует критериям: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b="1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🏆 Инновационность (35 баллов) 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dirty="0">
                <a:solidFill>
                  <a:srgbClr val="000000"/>
                </a:solidFill>
              </a:rPr>
              <a:t>- </a:t>
            </a:r>
            <a:r>
              <a:rPr lang="ru-RU" sz="1500" i="1" dirty="0">
                <a:solidFill>
                  <a:srgbClr val="000000"/>
                </a:solidFill>
              </a:rPr>
              <a:t>[наши сильные стороны]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i="1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⚙️ Технологии (45 баллов) 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[глубина использования стека]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ru-RU" sz="1500" b="1" dirty="0">
              <a:solidFill>
                <a:srgbClr val="000000"/>
              </a:solidFill>
            </a:endParaRP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b="1" dirty="0">
                <a:solidFill>
                  <a:srgbClr val="000000"/>
                </a:solidFill>
              </a:rPr>
              <a:t>🎭 Презентация (20 баллов)</a:t>
            </a:r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ru-RU" sz="1500" i="1" dirty="0">
                <a:solidFill>
                  <a:srgbClr val="000000"/>
                </a:solidFill>
              </a:rPr>
              <a:t>- [качество демонстрации]</a:t>
            </a:r>
            <a:endParaRPr lang="en-US" sz="1500" i="1" dirty="0"/>
          </a:p>
        </p:txBody>
      </p:sp>
      <p:pic>
        <p:nvPicPr>
          <p:cNvPr id="7" name="Image 0" descr="https://content-studio.sberdevices.ru/prod-gc/a360b773-20b7-42db-9403-de55d41b3c11/0199ae04-b74e-713c-87d1-7436b3ecb98f.jpg">
            <a:extLst>
              <a:ext uri="{FF2B5EF4-FFF2-40B4-BE49-F238E27FC236}">
                <a16:creationId xmlns:a16="http://schemas.microsoft.com/office/drawing/2014/main" id="{3ABAB226-36BF-7083-EAE2-65F72A83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4" r="6714"/>
          <a:stretch/>
        </p:blipFill>
        <p:spPr>
          <a:xfrm>
            <a:off x="274320" y="257175"/>
            <a:ext cx="2286000" cy="462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6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a360b773-20b7-42db-9403-de55d41b3c11/0199ae02-bb03-7b82-8d61-4ead12073564.jpg"/>
          <p:cNvPicPr>
            <a:picLocks noChangeAspect="1"/>
          </p:cNvPicPr>
          <p:nvPr/>
        </p:nvPicPr>
        <p:blipFill>
          <a:blip r:embed="rId3"/>
          <a:srcRect t="17568" b="17568"/>
          <a:stretch/>
        </p:blipFill>
        <p:spPr>
          <a:xfrm>
            <a:off x="4572000" y="0"/>
            <a:ext cx="4531179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08610"/>
            <a:ext cx="3931920" cy="874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000000"/>
                </a:solidFill>
              </a:rPr>
              <a:t>Спасибо за </a:t>
            </a:r>
            <a:r>
              <a:rPr lang="en-US" sz="3000" b="1" dirty="0" err="1">
                <a:solidFill>
                  <a:srgbClr val="000000"/>
                </a:solidFill>
              </a:rPr>
              <a:t>внимание</a:t>
            </a:r>
            <a:r>
              <a:rPr lang="en-US" sz="3000" b="1" dirty="0">
                <a:solidFill>
                  <a:srgbClr val="000000"/>
                </a:solidFill>
              </a:rPr>
              <a:t>!</a:t>
            </a:r>
            <a:endParaRPr lang="ru-RU" sz="3000" b="1" dirty="0">
              <a:solidFill>
                <a:srgbClr val="000000"/>
              </a:solidFill>
            </a:endParaRPr>
          </a:p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lang="ru-RU" sz="3000" b="1" dirty="0">
              <a:solidFill>
                <a:srgbClr val="000000"/>
              </a:solidFill>
            </a:endParaRPr>
          </a:p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 sz="3000" b="1" dirty="0">
                <a:solidFill>
                  <a:srgbClr val="000000"/>
                </a:solidFill>
              </a:rPr>
              <a:t>Вопросы?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606</Words>
  <Application>Microsoft Office PowerPoint</Application>
  <PresentationFormat>Экран (16:9)</PresentationFormat>
  <Paragraphs>141</Paragraphs>
  <Slides>17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ЛИЧИ Технологии</cp:lastModifiedBy>
  <cp:revision>37</cp:revision>
  <dcterms:created xsi:type="dcterms:W3CDTF">2025-10-05T15:41:52Z</dcterms:created>
  <dcterms:modified xsi:type="dcterms:W3CDTF">2025-10-06T07:38:26Z</dcterms:modified>
</cp:coreProperties>
</file>